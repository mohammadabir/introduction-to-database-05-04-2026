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4641" autoAdjust="0"/>
  </p:normalViewPr>
  <p:slideViewPr>
    <p:cSldViewPr snapToGrid="0">
      <p:cViewPr>
        <p:scale>
          <a:sx n="66" d="100"/>
          <a:sy n="66" d="100"/>
        </p:scale>
        <p:origin x="1099" y="31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1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00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072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845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89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139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356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02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16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54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310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611649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7903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112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7475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834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735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C395A61-FADD-4155-860F-FF7AD120FEE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986058-4929-4DCA-8E8A-0D148E6204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34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2770A-88D8-B380-0B3D-10532FB205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Hotel Management System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08627F-2099-00E4-5B2A-33FF7D4B9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Presented by Mohammad Abir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475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9B9689C-AD68-44A3-BFB4-C27BBA9A6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338369-BEFD-1BFE-CB25-388450C9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6586491" cy="162232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User Views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073616-E93D-4D7C-9EA1-43F1D5DF9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410" y="0"/>
            <a:ext cx="46360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" name="Rounded Rectangle 9">
            <a:extLst>
              <a:ext uri="{FF2B5EF4-FFF2-40B4-BE49-F238E27FC236}">
                <a16:creationId xmlns:a16="http://schemas.microsoft.com/office/drawing/2014/main" id="{0121EE82-A9A4-4B7E-928A-257CF299F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1042" y="460755"/>
            <a:ext cx="3666744" cy="5739187"/>
          </a:xfrm>
          <a:prstGeom prst="roundRect">
            <a:avLst>
              <a:gd name="adj" fmla="val 0"/>
            </a:avLst>
          </a:prstGeom>
          <a:ln w="12700">
            <a:solidFill>
              <a:schemeClr val="bg2"/>
            </a:solidFill>
          </a:ln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ED251-8EA0-8399-CE3B-D80457CDB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5675" y="2368175"/>
            <a:ext cx="2697479" cy="1968430"/>
          </a:xfrm>
          <a:prstGeom prst="rect">
            <a:avLst/>
          </a:prstGeom>
          <a:effectLst/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6EEAAB6-E00B-4F7A-AD69-0666D48AE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4CC79-D095-A494-6415-FDB64E041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6586489" cy="378541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rgbClr val="FFFFFF"/>
                </a:solidFill>
              </a:rPr>
              <a:t>In my Project I make some tables Like: Hotel, Rooms, Employees, Guests, Bookings, </a:t>
            </a:r>
            <a:r>
              <a:rPr lang="en-US" sz="1500" dirty="0" err="1">
                <a:solidFill>
                  <a:srgbClr val="FFFFFF"/>
                </a:solidFill>
              </a:rPr>
              <a:t>BookingRooms</a:t>
            </a:r>
            <a:r>
              <a:rPr lang="en-US" sz="1500" dirty="0">
                <a:solidFill>
                  <a:srgbClr val="FFFFFF"/>
                </a:solidFill>
              </a:rPr>
              <a:t>, Services, </a:t>
            </a:r>
            <a:r>
              <a:rPr lang="en-US" sz="1500" dirty="0" err="1">
                <a:solidFill>
                  <a:srgbClr val="FFFFFF"/>
                </a:solidFill>
              </a:rPr>
              <a:t>BookingServices</a:t>
            </a:r>
            <a:r>
              <a:rPr lang="en-US" sz="1500" dirty="0">
                <a:solidFill>
                  <a:srgbClr val="FFFFFF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rgbClr val="FFFFFF"/>
                </a:solidFill>
              </a:rPr>
              <a:t>Here </a:t>
            </a:r>
            <a:r>
              <a:rPr lang="en-US" sz="1500" dirty="0" err="1">
                <a:solidFill>
                  <a:srgbClr val="FFFFFF"/>
                </a:solidFill>
              </a:rPr>
              <a:t>BookingRooms</a:t>
            </a:r>
            <a:r>
              <a:rPr lang="en-US" sz="1500" dirty="0">
                <a:solidFill>
                  <a:srgbClr val="FFFFFF"/>
                </a:solidFill>
              </a:rPr>
              <a:t> and </a:t>
            </a:r>
            <a:r>
              <a:rPr lang="en-US" sz="1500" dirty="0" err="1">
                <a:solidFill>
                  <a:srgbClr val="FFFFFF"/>
                </a:solidFill>
              </a:rPr>
              <a:t>BookingServices</a:t>
            </a:r>
            <a:r>
              <a:rPr lang="en-US" sz="1500" dirty="0">
                <a:solidFill>
                  <a:srgbClr val="FFFFFF"/>
                </a:solidFill>
              </a:rPr>
              <a:t> are bridge tables.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rgbClr val="FFFFFF"/>
                </a:solidFill>
              </a:rPr>
              <a:t>For “Hotels” tables we have 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500" dirty="0">
                <a:solidFill>
                  <a:srgbClr val="FFFFFF"/>
                </a:solidFill>
              </a:rPr>
              <a:t>(</a:t>
            </a:r>
            <a:r>
              <a:rPr lang="en-US" sz="1500" dirty="0" err="1">
                <a:solidFill>
                  <a:srgbClr val="FFFFFF"/>
                </a:solidFill>
              </a:rPr>
              <a:t>HotelID</a:t>
            </a:r>
            <a:r>
              <a:rPr lang="en-US" sz="1500" dirty="0">
                <a:solidFill>
                  <a:srgbClr val="FFFFFF"/>
                </a:solidFill>
              </a:rPr>
              <a:t>, </a:t>
            </a:r>
            <a:r>
              <a:rPr lang="en-US" sz="1500" dirty="0" err="1">
                <a:solidFill>
                  <a:srgbClr val="FFFFFF"/>
                </a:solidFill>
              </a:rPr>
              <a:t>HotelName</a:t>
            </a:r>
            <a:r>
              <a:rPr lang="en-US" sz="1500" dirty="0">
                <a:solidFill>
                  <a:srgbClr val="FFFFFF"/>
                </a:solidFill>
              </a:rPr>
              <a:t> Location)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500" dirty="0" err="1">
                <a:solidFill>
                  <a:srgbClr val="FFFFFF"/>
                </a:solidFill>
              </a:rPr>
              <a:t>HotelID</a:t>
            </a:r>
            <a:r>
              <a:rPr lang="en-US" sz="1500" dirty="0">
                <a:solidFill>
                  <a:srgbClr val="FFFFFF"/>
                </a:solidFill>
              </a:rPr>
              <a:t> is a Primary Key.</a:t>
            </a:r>
          </a:p>
          <a:p>
            <a:pPr>
              <a:lnSpc>
                <a:spcPct val="90000"/>
              </a:lnSpc>
            </a:pPr>
            <a:endParaRPr lang="en-US" sz="1500" dirty="0">
              <a:solidFill>
                <a:srgbClr val="FFFFFF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FFFFFF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0115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C201-920C-A05E-A0C9-B570E8670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en-US" dirty="0"/>
              <a:t>User Views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1A5A8-1F9D-41FB-9968-E8E141CC3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2FF8A507-56A2-4FE4-8B7E-C1BC9DD86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E1F725-9DCD-D423-7CDB-A54E7169A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7926" y="4653022"/>
            <a:ext cx="2960322" cy="1991117"/>
          </a:xfrm>
          <a:prstGeom prst="rect">
            <a:avLst/>
          </a:prstGeom>
          <a:effectLst/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CC54B50-93BD-4243-9020-11486472E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82487-7E48-49B9-E209-1CD7BE451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en-US" b="1" dirty="0"/>
              <a:t>Rooms </a:t>
            </a:r>
            <a:r>
              <a:rPr lang="en-US" dirty="0"/>
              <a:t>(</a:t>
            </a:r>
            <a:r>
              <a:rPr lang="en-US" dirty="0" err="1"/>
              <a:t>RoomID</a:t>
            </a:r>
            <a:r>
              <a:rPr lang="en-US" dirty="0"/>
              <a:t>, </a:t>
            </a:r>
            <a:r>
              <a:rPr lang="en-US" dirty="0" err="1"/>
              <a:t>RoomType</a:t>
            </a:r>
            <a:r>
              <a:rPr lang="en-US" dirty="0"/>
              <a:t>, Price, </a:t>
            </a:r>
            <a:r>
              <a:rPr lang="en-US" dirty="0" err="1"/>
              <a:t>HotelID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RoomID</a:t>
            </a:r>
            <a:r>
              <a:rPr lang="en-US" dirty="0"/>
              <a:t> – Primary Key </a:t>
            </a:r>
          </a:p>
          <a:p>
            <a:pPr lvl="1"/>
            <a:r>
              <a:rPr lang="en-US" dirty="0" err="1"/>
              <a:t>HotelID</a:t>
            </a:r>
            <a:r>
              <a:rPr lang="en-US" dirty="0"/>
              <a:t>- Foreign Key</a:t>
            </a:r>
          </a:p>
          <a:p>
            <a:pPr marL="0" indent="0">
              <a:buNone/>
            </a:pPr>
            <a:r>
              <a:rPr lang="en-US" dirty="0"/>
              <a:t>	Relationship : Hotel (1) – (M) Rooms.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b="1" dirty="0"/>
          </a:p>
          <a:p>
            <a:r>
              <a:rPr lang="en-US" b="1" dirty="0"/>
              <a:t>Guests </a:t>
            </a:r>
            <a:r>
              <a:rPr lang="en-US" dirty="0"/>
              <a:t>(</a:t>
            </a:r>
            <a:r>
              <a:rPr lang="en-US" dirty="0" err="1"/>
              <a:t>GuestID</a:t>
            </a:r>
            <a:r>
              <a:rPr lang="en-US" dirty="0"/>
              <a:t>, </a:t>
            </a:r>
            <a:r>
              <a:rPr lang="en-US" dirty="0" err="1"/>
              <a:t>GuestName</a:t>
            </a:r>
            <a:r>
              <a:rPr lang="en-US" dirty="0"/>
              <a:t>, Phone)</a:t>
            </a:r>
          </a:p>
          <a:p>
            <a:r>
              <a:rPr lang="en-US" dirty="0" err="1"/>
              <a:t>GuestID</a:t>
            </a:r>
            <a:r>
              <a:rPr lang="en-US" dirty="0"/>
              <a:t> - Primary Key.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2A231-62D2-A60F-3B0B-AE0456A586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0798" y="1445946"/>
            <a:ext cx="3980139" cy="226369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515015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7C41B-1DBF-6EE0-38A6-50FB947B8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en-US" dirty="0"/>
              <a:t>User Views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2D69C2-6C47-427C-AE60-582FE30B2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E849FE61-12C4-4A06-A722-B545DE0C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B88BF7-8DD1-2D22-DBEC-7BEBF49E6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6939" y="4375086"/>
            <a:ext cx="3980139" cy="1655277"/>
          </a:xfrm>
          <a:prstGeom prst="rect">
            <a:avLst/>
          </a:prstGeom>
          <a:effectLst/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FB12D8C-572F-4417-9FE1-D691A132F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19B7A-001B-E096-4543-40F11ED75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en-US" b="1" dirty="0"/>
              <a:t>Employees</a:t>
            </a:r>
            <a:r>
              <a:rPr lang="en-US" dirty="0"/>
              <a:t> (</a:t>
            </a:r>
            <a:r>
              <a:rPr lang="en-US" dirty="0" err="1"/>
              <a:t>EmployeeID</a:t>
            </a:r>
            <a:r>
              <a:rPr lang="en-US" dirty="0"/>
              <a:t>, </a:t>
            </a:r>
            <a:r>
              <a:rPr lang="en-US" dirty="0" err="1"/>
              <a:t>EmployeeName</a:t>
            </a:r>
            <a:r>
              <a:rPr lang="en-US" dirty="0"/>
              <a:t>, Position, </a:t>
            </a:r>
            <a:r>
              <a:rPr lang="en-US" dirty="0" err="1"/>
              <a:t>HotelID</a:t>
            </a:r>
            <a:r>
              <a:rPr lang="en-US" dirty="0"/>
              <a:t>)</a:t>
            </a:r>
          </a:p>
          <a:p>
            <a:r>
              <a:rPr lang="en-US" dirty="0" err="1"/>
              <a:t>EmployeeID</a:t>
            </a:r>
            <a:r>
              <a:rPr lang="en-US" dirty="0"/>
              <a:t> – Primary Key.</a:t>
            </a:r>
          </a:p>
          <a:p>
            <a:r>
              <a:rPr lang="en-US" dirty="0" err="1"/>
              <a:t>HotelID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–</a:t>
            </a:r>
            <a:r>
              <a:rPr lang="en-US" dirty="0"/>
              <a:t> Foreign Key.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Relations : Hotels (1) – (M) Employees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30990F-7043-1811-DD21-43145C3CFA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6940" y="1440495"/>
            <a:ext cx="3980139" cy="244394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952270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412E3267-7ABE-412B-8580-47EC0D1F6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0B62C5A-2250-4380-AB23-DB87446CC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D42CF425-7213-4F89-B0FF-4C2BDDD9C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35DA97D-88F8-4249-B650-4FC9FD50A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3F38673-6E30-4BAE-AC67-0B283EBF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202A25CB-1ED1-4C87-AB49-8D3BC684D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6E440-6C83-1D56-E612-1C82E5294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User Views</a:t>
            </a:r>
            <a:br>
              <a:rPr lang="en-US" dirty="0"/>
            </a:br>
            <a:endParaRPr lang="en-US" dirty="0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52D69C2-6C47-427C-AE60-582FE30B22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Freeform 7">
            <a:extLst>
              <a:ext uri="{FF2B5EF4-FFF2-40B4-BE49-F238E27FC236}">
                <a16:creationId xmlns:a16="http://schemas.microsoft.com/office/drawing/2014/main" id="{E849FE61-12C4-4A06-A722-B545DE0C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A76AE-8B42-F8D7-679A-874156FBCF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3742" y="874925"/>
            <a:ext cx="3980139" cy="2228878"/>
          </a:xfrm>
          <a:prstGeom prst="rect">
            <a:avLst/>
          </a:prstGeom>
          <a:effectLst/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7FB12D8C-572F-4417-9FE1-D691A132F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63201-8E92-5E57-6CDE-AD6C0A83B92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46112" y="2052918"/>
            <a:ext cx="5628635" cy="419548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90000"/>
              </a:lnSpc>
            </a:pPr>
            <a:r>
              <a:rPr lang="en-US" sz="1400" dirty="0"/>
              <a:t>Bookings (</a:t>
            </a:r>
            <a:r>
              <a:rPr lang="en-US" sz="1400" dirty="0" err="1"/>
              <a:t>BookingID</a:t>
            </a:r>
            <a:r>
              <a:rPr lang="en-US" sz="1400" dirty="0"/>
              <a:t>, </a:t>
            </a:r>
            <a:r>
              <a:rPr lang="en-US" sz="1400" dirty="0" err="1"/>
              <a:t>CheckInDate</a:t>
            </a:r>
            <a:r>
              <a:rPr lang="en-US" sz="1400" dirty="0"/>
              <a:t>, </a:t>
            </a:r>
            <a:r>
              <a:rPr lang="en-US" sz="1400" dirty="0" err="1"/>
              <a:t>CheckOutDate</a:t>
            </a:r>
            <a:r>
              <a:rPr lang="en-US" sz="1400" dirty="0"/>
              <a:t>, </a:t>
            </a:r>
            <a:r>
              <a:rPr lang="en-US" sz="1400" dirty="0" err="1"/>
              <a:t>GuestID</a:t>
            </a:r>
            <a:r>
              <a:rPr lang="en-US" sz="1400" dirty="0"/>
              <a:t>, </a:t>
            </a:r>
            <a:r>
              <a:rPr lang="en-US" sz="1400" dirty="0" err="1"/>
              <a:t>EmployeeID</a:t>
            </a:r>
            <a:r>
              <a:rPr lang="en-US" sz="1400" dirty="0"/>
              <a:t>)</a:t>
            </a:r>
          </a:p>
          <a:p>
            <a:pPr>
              <a:lnSpc>
                <a:spcPct val="90000"/>
              </a:lnSpc>
            </a:pPr>
            <a:r>
              <a:rPr lang="en-US" sz="1400" dirty="0" err="1"/>
              <a:t>BookingID</a:t>
            </a:r>
            <a:r>
              <a:rPr lang="en-US" sz="1400" dirty="0"/>
              <a:t> – Primary Key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	</a:t>
            </a:r>
            <a:r>
              <a:rPr lang="en-US" sz="1400" dirty="0" err="1"/>
              <a:t>GuestID</a:t>
            </a:r>
            <a:r>
              <a:rPr lang="en-US" sz="1400" dirty="0"/>
              <a:t> </a:t>
            </a:r>
            <a:r>
              <a:rPr lang="en-US" sz="1400" dirty="0">
                <a:sym typeface="Wingdings" panose="05000000000000000000" pitchFamily="2" charset="2"/>
              </a:rPr>
              <a:t>– Foreign Key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	</a:t>
            </a:r>
            <a:r>
              <a:rPr lang="en-US" sz="1400" dirty="0" err="1"/>
              <a:t>EmployeeID</a:t>
            </a:r>
            <a:r>
              <a:rPr lang="en-US" sz="1400" dirty="0"/>
              <a:t> </a:t>
            </a:r>
            <a:r>
              <a:rPr lang="en-US" sz="1400" dirty="0">
                <a:sym typeface="Wingdings" panose="05000000000000000000" pitchFamily="2" charset="2"/>
              </a:rPr>
              <a:t>–</a:t>
            </a:r>
            <a:r>
              <a:rPr lang="en-US" sz="1400" dirty="0"/>
              <a:t>Foreign Key.</a:t>
            </a:r>
          </a:p>
          <a:p>
            <a:pPr marL="400050" lvl="1" indent="0">
              <a:lnSpc>
                <a:spcPct val="90000"/>
              </a:lnSpc>
              <a:buNone/>
            </a:pPr>
            <a:r>
              <a:rPr lang="en-US" sz="1200" dirty="0"/>
              <a:t>	Relations : 	Guests(1) – (M) Bookings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400" dirty="0"/>
              <a:t>			Employees (1) – (M) Bookings</a:t>
            </a:r>
          </a:p>
          <a:p>
            <a:pPr marL="0" indent="0">
              <a:lnSpc>
                <a:spcPct val="90000"/>
              </a:lnSpc>
            </a:pPr>
            <a:endParaRPr lang="en-US" sz="1400" dirty="0"/>
          </a:p>
          <a:p>
            <a:pPr>
              <a:lnSpc>
                <a:spcPct val="90000"/>
              </a:lnSpc>
            </a:pPr>
            <a:r>
              <a:rPr lang="en-US" sz="1400" dirty="0" err="1"/>
              <a:t>BookingRooms</a:t>
            </a:r>
            <a:r>
              <a:rPr lang="en-US" sz="1400" dirty="0"/>
              <a:t> (</a:t>
            </a:r>
            <a:r>
              <a:rPr lang="en-US" sz="1400" dirty="0" err="1"/>
              <a:t>BookingID</a:t>
            </a:r>
            <a:r>
              <a:rPr lang="en-US" sz="1400" dirty="0"/>
              <a:t>, </a:t>
            </a:r>
            <a:r>
              <a:rPr lang="en-US" sz="1400" dirty="0" err="1"/>
              <a:t>RoomID</a:t>
            </a:r>
            <a:endParaRPr lang="en-US" sz="1400" dirty="0"/>
          </a:p>
          <a:p>
            <a:pPr>
              <a:lnSpc>
                <a:spcPct val="90000"/>
              </a:lnSpc>
            </a:pPr>
            <a:r>
              <a:rPr lang="en-US" sz="1400" dirty="0"/>
              <a:t>	FK </a:t>
            </a:r>
            <a:r>
              <a:rPr lang="en-US" sz="1400" dirty="0" err="1"/>
              <a:t>BookingID</a:t>
            </a:r>
            <a:r>
              <a:rPr lang="en-US" sz="1400" dirty="0"/>
              <a:t> </a:t>
            </a:r>
            <a:r>
              <a:rPr lang="en-US" sz="1400" dirty="0">
                <a:sym typeface="Wingdings" panose="05000000000000000000" pitchFamily="2" charset="2"/>
              </a:rPr>
              <a:t></a:t>
            </a:r>
            <a:r>
              <a:rPr lang="en-US" sz="1400" dirty="0"/>
              <a:t> Bookings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	FK </a:t>
            </a:r>
            <a:r>
              <a:rPr lang="en-US" sz="1400" dirty="0" err="1"/>
              <a:t>RoomID</a:t>
            </a:r>
            <a:r>
              <a:rPr lang="en-US" sz="1400" dirty="0"/>
              <a:t> </a:t>
            </a:r>
            <a:r>
              <a:rPr lang="en-US" sz="1400" dirty="0">
                <a:sym typeface="Wingdings" panose="05000000000000000000" pitchFamily="2" charset="2"/>
              </a:rPr>
              <a:t></a:t>
            </a:r>
            <a:r>
              <a:rPr lang="en-US" sz="1400" dirty="0"/>
              <a:t> Rooms.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400" dirty="0"/>
              <a:t>	This is Many to many Bridge.</a:t>
            </a:r>
          </a:p>
          <a:p>
            <a:pPr>
              <a:lnSpc>
                <a:spcPct val="90000"/>
              </a:lnSpc>
            </a:pP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2B24DD-AACE-E119-B766-6CD4D6A48E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3479" y="3526971"/>
            <a:ext cx="3480665" cy="272142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771428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2B2C1-8DFF-E8AA-5EA9-37F2E4D00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en-US" dirty="0"/>
              <a:t>User Views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DF1A5A8-1F9D-41FB-9968-E8E141CC3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2FF8A507-56A2-4FE4-8B7E-C1BC9DD86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E4228-5106-31CB-F21E-D124E8A86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3742" y="1026056"/>
            <a:ext cx="3980139" cy="2485487"/>
          </a:xfrm>
          <a:prstGeom prst="rect">
            <a:avLst/>
          </a:prstGeom>
          <a:effectLst/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FCC54B50-93BD-4243-9020-11486472E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FAD6E-EEFE-B14F-3A0C-5F6FD01B5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en-US" b="1"/>
              <a:t>Services </a:t>
            </a:r>
            <a:r>
              <a:rPr lang="en-US"/>
              <a:t>(</a:t>
            </a:r>
            <a:r>
              <a:rPr lang="en-US" err="1"/>
              <a:t>ServiceID</a:t>
            </a:r>
            <a:r>
              <a:rPr lang="en-US"/>
              <a:t>, </a:t>
            </a:r>
            <a:r>
              <a:rPr lang="en-US" err="1"/>
              <a:t>ServiceName</a:t>
            </a:r>
            <a:r>
              <a:rPr lang="en-US"/>
              <a:t>, Price)</a:t>
            </a:r>
          </a:p>
          <a:p>
            <a:r>
              <a:rPr lang="en-US" err="1"/>
              <a:t>ServiceID</a:t>
            </a:r>
            <a:r>
              <a:rPr lang="en-US"/>
              <a:t>- Primary Key</a:t>
            </a:r>
          </a:p>
          <a:p>
            <a:endParaRPr lang="en-US"/>
          </a:p>
          <a:p>
            <a:endParaRPr lang="en-US"/>
          </a:p>
          <a:p>
            <a:r>
              <a:rPr lang="en-US" b="1" err="1"/>
              <a:t>BookingServices</a:t>
            </a:r>
            <a:r>
              <a:rPr lang="en-US" b="1"/>
              <a:t> </a:t>
            </a:r>
            <a:r>
              <a:rPr lang="en-US"/>
              <a:t>(</a:t>
            </a:r>
            <a:r>
              <a:rPr lang="en-US" err="1"/>
              <a:t>BookingID</a:t>
            </a:r>
            <a:r>
              <a:rPr lang="en-US"/>
              <a:t>, </a:t>
            </a:r>
            <a:r>
              <a:rPr lang="en-US" u="sng" err="1"/>
              <a:t>ServiceID</a:t>
            </a:r>
            <a:r>
              <a:rPr lang="en-US"/>
              <a:t>)</a:t>
            </a:r>
          </a:p>
          <a:p>
            <a:r>
              <a:rPr lang="en-US"/>
              <a:t>	</a:t>
            </a:r>
            <a:r>
              <a:rPr lang="en-US" err="1"/>
              <a:t>BookingID</a:t>
            </a:r>
            <a:r>
              <a:rPr lang="en-US"/>
              <a:t> </a:t>
            </a:r>
            <a:r>
              <a:rPr lang="en-US">
                <a:sym typeface="Wingdings" panose="05000000000000000000" pitchFamily="2" charset="2"/>
              </a:rPr>
              <a:t>– Foreign Key</a:t>
            </a:r>
            <a:endParaRPr lang="en-US"/>
          </a:p>
          <a:p>
            <a:r>
              <a:rPr lang="en-US"/>
              <a:t>	</a:t>
            </a:r>
            <a:r>
              <a:rPr lang="en-US" err="1"/>
              <a:t>ServiceID</a:t>
            </a:r>
            <a:r>
              <a:rPr lang="en-US"/>
              <a:t> </a:t>
            </a:r>
            <a:r>
              <a:rPr lang="en-US">
                <a:sym typeface="Wingdings" panose="05000000000000000000" pitchFamily="2" charset="2"/>
              </a:rPr>
              <a:t>– Foreign Key</a:t>
            </a:r>
            <a:r>
              <a:rPr lang="en-US"/>
              <a:t>.</a:t>
            </a:r>
          </a:p>
          <a:p>
            <a:r>
              <a:rPr lang="en-US"/>
              <a:t>This is </a:t>
            </a:r>
            <a:r>
              <a:rPr lang="en-US" b="1"/>
              <a:t>Many to many </a:t>
            </a:r>
            <a:r>
              <a:rPr lang="en-US"/>
              <a:t>Bridge.</a:t>
            </a:r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B8ACAC-5026-945A-8826-D5F37C1267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753" y="4085841"/>
            <a:ext cx="3502116" cy="216255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39338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0F332-F642-DD24-3FDC-325CF788F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DBDL- Database Design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07715-9F84-1839-5382-CD4219E9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/>
              <a:t>Hotels </a:t>
            </a:r>
            <a:r>
              <a:rPr lang="en-US" dirty="0"/>
              <a:t>( </a:t>
            </a:r>
            <a:r>
              <a:rPr lang="en-US" u="sng" dirty="0" err="1"/>
              <a:t>HotelID</a:t>
            </a:r>
            <a:r>
              <a:rPr lang="en-US" dirty="0"/>
              <a:t>, </a:t>
            </a:r>
            <a:r>
              <a:rPr lang="en-US" dirty="0" err="1"/>
              <a:t>HotelName</a:t>
            </a:r>
            <a:r>
              <a:rPr lang="en-US" dirty="0"/>
              <a:t> Location)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/>
              <a:t>Rooms </a:t>
            </a:r>
            <a:r>
              <a:rPr lang="en-US" dirty="0"/>
              <a:t>(</a:t>
            </a:r>
            <a:r>
              <a:rPr lang="en-US" u="sng" dirty="0" err="1"/>
              <a:t>RoomID</a:t>
            </a:r>
            <a:r>
              <a:rPr lang="en-US" dirty="0"/>
              <a:t>, </a:t>
            </a:r>
            <a:r>
              <a:rPr lang="en-US" dirty="0" err="1"/>
              <a:t>RoomType</a:t>
            </a:r>
            <a:r>
              <a:rPr lang="en-US" dirty="0"/>
              <a:t>, Price, </a:t>
            </a:r>
            <a:r>
              <a:rPr lang="en-US" dirty="0" err="1"/>
              <a:t>HotelID</a:t>
            </a:r>
            <a:r>
              <a:rPr lang="en-US" dirty="0"/>
              <a:t>)</a:t>
            </a:r>
          </a:p>
          <a:p>
            <a:pPr marL="400050" lvl="1" indent="0">
              <a:buNone/>
            </a:pPr>
            <a:r>
              <a:rPr lang="en-US" dirty="0"/>
              <a:t>		FK </a:t>
            </a:r>
            <a:r>
              <a:rPr lang="en-US" dirty="0" err="1"/>
              <a:t>HotelID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Hotels.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/>
              <a:t>Guests </a:t>
            </a:r>
            <a:r>
              <a:rPr lang="en-US" dirty="0"/>
              <a:t>(</a:t>
            </a:r>
            <a:r>
              <a:rPr lang="en-US" u="sng" dirty="0" err="1"/>
              <a:t>GuestID</a:t>
            </a:r>
            <a:r>
              <a:rPr lang="en-US" dirty="0"/>
              <a:t>, </a:t>
            </a:r>
            <a:r>
              <a:rPr lang="en-US" dirty="0" err="1"/>
              <a:t>GuestName</a:t>
            </a:r>
            <a:r>
              <a:rPr lang="en-US" dirty="0"/>
              <a:t>, Phone)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/>
              <a:t>Employees</a:t>
            </a:r>
            <a:r>
              <a:rPr lang="en-US" dirty="0"/>
              <a:t> (</a:t>
            </a:r>
            <a:r>
              <a:rPr lang="en-US" u="sng" dirty="0" err="1"/>
              <a:t>EmployeeID</a:t>
            </a:r>
            <a:r>
              <a:rPr lang="en-US" dirty="0"/>
              <a:t>, </a:t>
            </a:r>
            <a:r>
              <a:rPr lang="en-US" dirty="0" err="1"/>
              <a:t>EmployeeName</a:t>
            </a:r>
            <a:r>
              <a:rPr lang="en-US" dirty="0"/>
              <a:t>, Position, </a:t>
            </a:r>
            <a:r>
              <a:rPr lang="en-US" dirty="0" err="1"/>
              <a:t>HotelID</a:t>
            </a:r>
            <a:r>
              <a:rPr lang="en-US" dirty="0"/>
              <a:t>)</a:t>
            </a:r>
          </a:p>
          <a:p>
            <a:pPr marL="400050" lvl="1" indent="0">
              <a:buNone/>
            </a:pPr>
            <a:r>
              <a:rPr lang="en-US" dirty="0"/>
              <a:t>		FK </a:t>
            </a:r>
            <a:r>
              <a:rPr lang="en-US" dirty="0" err="1"/>
              <a:t>HotelID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Hotels.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/>
              <a:t>Bookings</a:t>
            </a:r>
            <a:r>
              <a:rPr lang="en-US" dirty="0"/>
              <a:t> (</a:t>
            </a:r>
            <a:r>
              <a:rPr lang="en-US" u="sng" dirty="0" err="1"/>
              <a:t>BookingID</a:t>
            </a:r>
            <a:r>
              <a:rPr lang="en-US" dirty="0"/>
              <a:t>, </a:t>
            </a:r>
            <a:r>
              <a:rPr lang="en-US" dirty="0" err="1"/>
              <a:t>CheckInDate</a:t>
            </a:r>
            <a:r>
              <a:rPr lang="en-US" dirty="0"/>
              <a:t>, </a:t>
            </a:r>
            <a:r>
              <a:rPr lang="en-US" dirty="0" err="1"/>
              <a:t>CheckOutDate</a:t>
            </a:r>
            <a:r>
              <a:rPr lang="en-US" dirty="0"/>
              <a:t>, </a:t>
            </a:r>
            <a:r>
              <a:rPr lang="en-US" dirty="0" err="1"/>
              <a:t>GuestID</a:t>
            </a:r>
            <a:r>
              <a:rPr lang="en-US" dirty="0"/>
              <a:t>, </a:t>
            </a:r>
            <a:r>
              <a:rPr lang="en-US" dirty="0" err="1"/>
              <a:t>EmployeeID</a:t>
            </a:r>
            <a:r>
              <a:rPr lang="en-US" dirty="0"/>
              <a:t>)</a:t>
            </a:r>
          </a:p>
          <a:p>
            <a:pPr marL="800100" lvl="2" indent="0">
              <a:buNone/>
            </a:pPr>
            <a:r>
              <a:rPr lang="en-US" dirty="0"/>
              <a:t>	FK </a:t>
            </a:r>
            <a:r>
              <a:rPr lang="en-US" dirty="0" err="1"/>
              <a:t>GuestID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Guests,</a:t>
            </a:r>
          </a:p>
          <a:p>
            <a:pPr marL="800100" lvl="2" indent="0">
              <a:buNone/>
            </a:pPr>
            <a:r>
              <a:rPr lang="en-US" dirty="0"/>
              <a:t>	FK </a:t>
            </a:r>
            <a:r>
              <a:rPr lang="en-US" dirty="0" err="1"/>
              <a:t>EmployeeID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Employees.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 err="1"/>
              <a:t>BookingRooms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u="sng" dirty="0" err="1"/>
              <a:t>BookingID</a:t>
            </a:r>
            <a:r>
              <a:rPr lang="en-US" dirty="0"/>
              <a:t>, </a:t>
            </a:r>
            <a:r>
              <a:rPr lang="en-US" u="sng" dirty="0" err="1"/>
              <a:t>RoomID</a:t>
            </a:r>
            <a:r>
              <a:rPr lang="en-US" dirty="0"/>
              <a:t>)- [</a:t>
            </a:r>
            <a:r>
              <a:rPr lang="en-US" b="1" i="1" dirty="0" err="1"/>
              <a:t>BridgeTable</a:t>
            </a:r>
            <a:r>
              <a:rPr lang="en-US" b="1" i="1" dirty="0"/>
              <a:t> between Bookings and Rooms]</a:t>
            </a:r>
            <a:endParaRPr lang="en-US" dirty="0"/>
          </a:p>
          <a:p>
            <a:pPr marL="800100" lvl="2" indent="0">
              <a:buNone/>
            </a:pPr>
            <a:r>
              <a:rPr lang="en-US" dirty="0"/>
              <a:t>	FK </a:t>
            </a:r>
            <a:r>
              <a:rPr lang="en-US" dirty="0" err="1"/>
              <a:t>BookingID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Bookings</a:t>
            </a:r>
          </a:p>
          <a:p>
            <a:pPr marL="800100" lvl="2" indent="0">
              <a:buNone/>
            </a:pPr>
            <a:r>
              <a:rPr lang="en-US" dirty="0"/>
              <a:t>	FK </a:t>
            </a:r>
            <a:r>
              <a:rPr lang="en-US" dirty="0" err="1"/>
              <a:t>RoomID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Rooms.</a:t>
            </a:r>
          </a:p>
          <a:p>
            <a:pPr marL="400050" lvl="1" indent="0">
              <a:buNone/>
            </a:pPr>
            <a:endParaRPr lang="en-US" dirty="0"/>
          </a:p>
          <a:p>
            <a:pPr marL="40005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246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D47E3-E18D-F881-C1D1-635733A82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DBDL- Database Design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B5640-7D56-83DD-D887-F0F7F7DC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b="1" dirty="0"/>
              <a:t>Services </a:t>
            </a:r>
            <a:r>
              <a:rPr lang="en-US" sz="1600" dirty="0"/>
              <a:t>(</a:t>
            </a:r>
            <a:r>
              <a:rPr lang="en-US" sz="1600" u="sng" dirty="0" err="1"/>
              <a:t>ServiceID</a:t>
            </a:r>
            <a:r>
              <a:rPr lang="en-US" sz="1600" dirty="0"/>
              <a:t>, </a:t>
            </a:r>
            <a:r>
              <a:rPr lang="en-US" sz="1600" dirty="0" err="1"/>
              <a:t>ServiceName</a:t>
            </a:r>
            <a:r>
              <a:rPr lang="en-US" sz="1600" dirty="0"/>
              <a:t>, Price)</a:t>
            </a:r>
          </a:p>
          <a:p>
            <a:r>
              <a:rPr lang="en-US" sz="1600" b="1" dirty="0" err="1"/>
              <a:t>BookingServices</a:t>
            </a:r>
            <a:r>
              <a:rPr lang="en-US" sz="1600" b="1" dirty="0"/>
              <a:t> </a:t>
            </a:r>
            <a:r>
              <a:rPr lang="en-US" sz="1600" dirty="0"/>
              <a:t>(</a:t>
            </a:r>
            <a:r>
              <a:rPr lang="en-US" sz="1600" u="sng" dirty="0" err="1"/>
              <a:t>BookingID</a:t>
            </a:r>
            <a:r>
              <a:rPr lang="en-US" sz="1600" dirty="0"/>
              <a:t>, </a:t>
            </a:r>
            <a:r>
              <a:rPr lang="en-US" sz="1600" u="sng" dirty="0" err="1"/>
              <a:t>ServiceID</a:t>
            </a:r>
            <a:r>
              <a:rPr lang="en-US" sz="1600" dirty="0"/>
              <a:t>)- )- [</a:t>
            </a:r>
            <a:r>
              <a:rPr lang="en-US" sz="1600" b="1" i="1" dirty="0" err="1"/>
              <a:t>BridgeTable</a:t>
            </a:r>
            <a:r>
              <a:rPr lang="en-US" sz="1600" b="1" i="1" dirty="0"/>
              <a:t> between Bookings and Services]</a:t>
            </a:r>
            <a:endParaRPr lang="en-US" sz="1600" dirty="0"/>
          </a:p>
          <a:p>
            <a:pPr marL="0" indent="0">
              <a:buNone/>
            </a:pPr>
            <a:r>
              <a:rPr lang="en-US" sz="1600" dirty="0"/>
              <a:t>	FK </a:t>
            </a:r>
            <a:r>
              <a:rPr lang="en-US" sz="1600" dirty="0" err="1"/>
              <a:t>BookingID</a:t>
            </a:r>
            <a:r>
              <a:rPr lang="en-US" sz="1600" dirty="0"/>
              <a:t>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Bookings</a:t>
            </a:r>
          </a:p>
          <a:p>
            <a:pPr marL="0" indent="0">
              <a:buNone/>
            </a:pPr>
            <a:r>
              <a:rPr lang="en-US" sz="1600" dirty="0"/>
              <a:t>	FK </a:t>
            </a:r>
            <a:r>
              <a:rPr lang="en-US" sz="1600" dirty="0" err="1"/>
              <a:t>ServiceID</a:t>
            </a:r>
            <a:r>
              <a:rPr lang="en-US" sz="1600" dirty="0"/>
              <a:t>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Services.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33453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3FD99-BD87-3A58-4881-F78B3E9AF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ERD- Entity-Relationship Diagram</a:t>
            </a:r>
          </a:p>
        </p:txBody>
      </p:sp>
      <p:sp>
        <p:nvSpPr>
          <p:cNvPr id="24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2C5DE7-E4F3-D66D-2EBB-8F2AF4D43B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54" y="690416"/>
            <a:ext cx="6270662" cy="5476702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72494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EAAEC-F657-BCB0-DD04-B7021A5B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A782B-85B4-7C71-E1B5-5BE1002C8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System model real Hotel operations.</a:t>
            </a:r>
          </a:p>
          <a:p>
            <a:r>
              <a:rPr lang="en-US" dirty="0"/>
              <a:t>Supports multiple rooms and services per booking.</a:t>
            </a:r>
          </a:p>
          <a:p>
            <a:r>
              <a:rPr lang="en-US" dirty="0"/>
              <a:t>Uses proper Primary and Foreign Key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854919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E3F9C-9F6E-1799-07E6-9A0C7E617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7134" y="2728735"/>
            <a:ext cx="9404723" cy="1400530"/>
          </a:xfrm>
        </p:spPr>
        <p:txBody>
          <a:bodyPr/>
          <a:lstStyle/>
          <a:p>
            <a:pPr algn="ctr"/>
            <a:r>
              <a:rPr lang="en-US" sz="8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4466705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78</TotalTime>
  <Words>424</Words>
  <Application>Microsoft Office PowerPoint</Application>
  <PresentationFormat>Widescreen</PresentationFormat>
  <Paragraphs>76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Century Gothic</vt:lpstr>
      <vt:lpstr>Courier New</vt:lpstr>
      <vt:lpstr>Wingdings</vt:lpstr>
      <vt:lpstr>Wingdings 3</vt:lpstr>
      <vt:lpstr>Ion</vt:lpstr>
      <vt:lpstr>Hotel Management System </vt:lpstr>
      <vt:lpstr>User Views</vt:lpstr>
      <vt:lpstr>User Views</vt:lpstr>
      <vt:lpstr>User Views</vt:lpstr>
      <vt:lpstr>User Views </vt:lpstr>
      <vt:lpstr>User Views</vt:lpstr>
      <vt:lpstr>DBDL- Database Design Language</vt:lpstr>
      <vt:lpstr>DBDL- Database Design Language</vt:lpstr>
      <vt:lpstr>ERD- Entity-Relationship Diagram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Abir</dc:creator>
  <cp:lastModifiedBy>Mohammad Abir</cp:lastModifiedBy>
  <cp:revision>17</cp:revision>
  <dcterms:created xsi:type="dcterms:W3CDTF">2026-05-01T02:33:17Z</dcterms:created>
  <dcterms:modified xsi:type="dcterms:W3CDTF">2026-05-01T03:51:56Z</dcterms:modified>
</cp:coreProperties>
</file>